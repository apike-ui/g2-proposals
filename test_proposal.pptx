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2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365760"/>
            <a:ext cx="594360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45720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492C"/>
                </a:solidFill>
                <a:latin typeface="Figtree"/>
              </a:rPr>
              <a:t>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51560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Figtree"/>
              </a:rPr>
              <a:t>Acme Corp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063240"/>
            <a:ext cx="4114800" cy="45720"/>
          </a:xfrm>
          <a:prstGeom prst="rect">
            <a:avLst/>
          </a:prstGeom>
          <a:solidFill>
            <a:srgbClr val="FF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33756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D9DEE6"/>
                </a:solidFill>
                <a:latin typeface="Figtree"/>
              </a:rPr>
              <a:t>Custom Investment Summary  |  G2 Buyer Intelligence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2336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D6480"/>
                </a:solidFill>
                <a:latin typeface="Figtree"/>
              </a:rPr>
              <a:t>Prepared by  Jane Smith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891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D6480"/>
                </a:solidFill>
                <a:latin typeface="Figtree"/>
              </a:rPr>
              <a:t>April 10,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280160"/>
            <a:ext cx="3474720" cy="868680"/>
          </a:xfrm>
          <a:prstGeom prst="rect">
            <a:avLst/>
          </a:prstGeom>
          <a:solidFill>
            <a:srgbClr val="04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1280160"/>
            <a:ext cx="54864" cy="868680"/>
          </a:xfrm>
          <a:prstGeom prst="rect">
            <a:avLst/>
          </a:prstGeom>
          <a:solidFill>
            <a:srgbClr val="FF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371600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492C"/>
                </a:solidFill>
                <a:latin typeface="Figtree"/>
              </a:rPr>
              <a:t>90M+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1444751"/>
            <a:ext cx="1645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9DEE6"/>
                </a:solidFill>
                <a:latin typeface="Figtree"/>
              </a:rPr>
              <a:t>annual buyer interactions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2331720"/>
            <a:ext cx="3474720" cy="868680"/>
          </a:xfrm>
          <a:prstGeom prst="rect">
            <a:avLst/>
          </a:prstGeom>
          <a:solidFill>
            <a:srgbClr val="04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2331720"/>
            <a:ext cx="54864" cy="868680"/>
          </a:xfrm>
          <a:prstGeom prst="rect">
            <a:avLst/>
          </a:prstGeom>
          <a:solidFill>
            <a:srgbClr val="27D3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2423160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7D3BC"/>
                </a:solidFill>
                <a:latin typeface="Figtree"/>
              </a:rPr>
              <a:t>#1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2496312"/>
            <a:ext cx="1645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9DEE6"/>
                </a:solidFill>
                <a:latin typeface="Figtree"/>
              </a:rPr>
              <a:t>software marketplace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3383279"/>
            <a:ext cx="3474720" cy="868680"/>
          </a:xfrm>
          <a:prstGeom prst="rect">
            <a:avLst/>
          </a:prstGeom>
          <a:solidFill>
            <a:srgbClr val="04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3383279"/>
            <a:ext cx="54864" cy="86868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3474720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C800"/>
                </a:solidFill>
                <a:latin typeface="Figtree"/>
              </a:rPr>
              <a:t>2.6M+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3547872"/>
            <a:ext cx="1645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9DEE6"/>
                </a:solidFill>
                <a:latin typeface="Figtree"/>
              </a:rPr>
              <a:t>verified reviews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4434840"/>
            <a:ext cx="3474720" cy="868680"/>
          </a:xfrm>
          <a:prstGeom prst="rect">
            <a:avLst/>
          </a:prstGeom>
          <a:solidFill>
            <a:srgbClr val="04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4434840"/>
            <a:ext cx="54864" cy="868680"/>
          </a:xfrm>
          <a:prstGeom prst="rect">
            <a:avLst/>
          </a:prstGeom>
          <a:solidFill>
            <a:srgbClr val="007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58200" y="4526279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73F5"/>
                </a:solidFill>
                <a:latin typeface="Figtree"/>
              </a:rPr>
              <a:t>160K+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4599431"/>
            <a:ext cx="1645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9DEE6"/>
                </a:solidFill>
                <a:latin typeface="Figtree"/>
              </a:rPr>
              <a:t>products &amp; services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F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640080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Figtree"/>
              </a:rPr>
              <a:t>Prepared exclusively for Acme Corp</a:t>
            </a:r>
          </a:p>
        </p:txBody>
      </p:sp>
      <p:pic>
        <p:nvPicPr>
          <p:cNvPr id="29" name="Picture 28" descr="G2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6400800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6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143000"/>
          </a:xfrm>
          <a:prstGeom prst="rect">
            <a:avLst/>
          </a:prstGeom>
          <a:solidFill>
            <a:srgbClr val="FF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2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56032"/>
            <a:ext cx="50292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37160"/>
            <a:ext cx="7315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Figtree"/>
              </a:rPr>
              <a:t>Investment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8368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9DEE6"/>
                </a:solidFill>
                <a:latin typeface="Figtree"/>
              </a:rPr>
              <a:t>Acme Corp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FF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6587" y="1508760"/>
            <a:ext cx="2514600" cy="1691640"/>
          </a:xfrm>
          <a:prstGeom prst="rect">
            <a:avLst/>
          </a:prstGeom>
          <a:solidFill>
            <a:srgbClr val="FF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6587" y="1691639"/>
            <a:ext cx="2514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Figtree"/>
              </a:rPr>
              <a:t>Total ACV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6587" y="2103120"/>
            <a:ext cx="2514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Figtree"/>
              </a:rPr>
              <a:t>$54,450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6587" y="3108960"/>
            <a:ext cx="2514600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1227" y="1508760"/>
            <a:ext cx="2514600" cy="1691640"/>
          </a:xfrm>
          <a:prstGeom prst="rect">
            <a:avLst/>
          </a:prstGeom>
          <a:solidFill>
            <a:srgbClr val="06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1227" y="1691639"/>
            <a:ext cx="2514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Figtree"/>
              </a:rPr>
              <a:t>List Price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1227" y="2103120"/>
            <a:ext cx="2514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Figtree"/>
              </a:rPr>
              <a:t>$63,500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55867" y="1508760"/>
            <a:ext cx="2514600" cy="1691640"/>
          </a:xfrm>
          <a:prstGeom prst="rect">
            <a:avLst/>
          </a:prstGeom>
          <a:solidFill>
            <a:srgbClr val="574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55867" y="1691639"/>
            <a:ext cx="2514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Figtree"/>
              </a:rPr>
              <a:t>Products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5867" y="2103120"/>
            <a:ext cx="2514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Figtree"/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90507" y="1508760"/>
            <a:ext cx="2514600" cy="1691640"/>
          </a:xfrm>
          <a:prstGeom prst="rect">
            <a:avLst/>
          </a:prstGeom>
          <a:solidFill>
            <a:srgbClr val="27D3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0507" y="1691639"/>
            <a:ext cx="2514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Figtree"/>
              </a:rPr>
              <a:t>Your Savings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0507" y="2103120"/>
            <a:ext cx="2514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Figtree"/>
              </a:rPr>
              <a:t>$9,050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52044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62846"/>
                </a:solidFill>
                <a:latin typeface="Figtree"/>
              </a:rPr>
              <a:t>What's Included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913632"/>
            <a:ext cx="2286000" cy="45720"/>
          </a:xfrm>
          <a:prstGeom prst="rect">
            <a:avLst/>
          </a:prstGeom>
          <a:solidFill>
            <a:srgbClr val="FF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160520"/>
            <a:ext cx="5120640" cy="5943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4160520"/>
            <a:ext cx="45720" cy="594360"/>
          </a:xfrm>
          <a:prstGeom prst="rect">
            <a:avLst/>
          </a:prstGeom>
          <a:solidFill>
            <a:srgbClr val="FF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" y="4233672"/>
            <a:ext cx="29260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62846"/>
                </a:solidFill>
                <a:latin typeface="Figtree"/>
              </a:rPr>
              <a:t>Buyer Intent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4480559"/>
            <a:ext cx="29260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D6480"/>
                </a:solidFill>
                <a:latin typeface="Figtree"/>
              </a:rPr>
              <a:t>Professional Package  +2 add-ons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4270248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492C"/>
                </a:solidFill>
                <a:latin typeface="Figtree"/>
              </a:rPr>
              <a:t>$19,500/yr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4160520"/>
            <a:ext cx="5120640" cy="5943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4160520"/>
            <a:ext cx="45720" cy="594360"/>
          </a:xfrm>
          <a:prstGeom prst="rect">
            <a:avLst/>
          </a:prstGeom>
          <a:solidFill>
            <a:srgbClr val="FF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233672"/>
            <a:ext cx="29260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62846"/>
                </a:solidFill>
                <a:latin typeface="Figtree"/>
              </a:rPr>
              <a:t>Market Intelligence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480559"/>
            <a:ext cx="29260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D6480"/>
                </a:solidFill>
                <a:latin typeface="Figtree"/>
              </a:rPr>
              <a:t>Enterprise Package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39" y="4270248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492C"/>
                </a:solidFill>
                <a:latin typeface="Figtree"/>
              </a:rPr>
              <a:t>$36,000/yr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5074920"/>
            <a:ext cx="5120640" cy="411480"/>
          </a:xfrm>
          <a:prstGeom prst="rect">
            <a:avLst/>
          </a:prstGeom>
          <a:solidFill>
            <a:srgbClr val="E0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" y="5074920"/>
            <a:ext cx="45720" cy="411480"/>
          </a:xfrm>
          <a:prstGeom prst="rect">
            <a:avLst/>
          </a:prstGeom>
          <a:solidFill>
            <a:srgbClr val="27D3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5148072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62846"/>
                </a:solidFill>
                <a:latin typeface="Figtree"/>
              </a:rPr>
              <a:t>Proposal discount of 10.0% applied — saving you $6,050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6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6519672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Figtree"/>
              </a:rPr>
              <a:t>g2.com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519672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D9DEE6"/>
                </a:solidFill>
                <a:latin typeface="Figtree"/>
              </a:rPr>
              <a:t>Confidential  |  2</a:t>
            </a:r>
          </a:p>
        </p:txBody>
      </p:sp>
      <p:pic>
        <p:nvPicPr>
          <p:cNvPr id="40" name="Picture 39" descr="G2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6510528"/>
            <a:ext cx="256032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6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143000"/>
          </a:xfrm>
          <a:prstGeom prst="rect">
            <a:avLst/>
          </a:prstGeom>
          <a:solidFill>
            <a:srgbClr val="FF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2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56032"/>
            <a:ext cx="50292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37160"/>
            <a:ext cx="7315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Figtree"/>
              </a:rPr>
              <a:t>Buyer Intent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8368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9DEE6"/>
                </a:solidFill>
                <a:latin typeface="Figtree"/>
              </a:rPr>
              <a:t>Professional Package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FF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08760"/>
            <a:ext cx="5029200" cy="14630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508760"/>
            <a:ext cx="5029200" cy="45720"/>
          </a:xfrm>
          <a:prstGeom prst="rect">
            <a:avLst/>
          </a:prstGeom>
          <a:solidFill>
            <a:srgbClr val="FF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916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D6480"/>
                </a:solidFill>
                <a:latin typeface="Figtree"/>
              </a:rPr>
              <a:t>ANNUAL CONTRACT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011680"/>
            <a:ext cx="3657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492C"/>
                </a:solidFill>
                <a:latin typeface="Figtree"/>
              </a:rPr>
              <a:t>$19,500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56032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D6480"/>
                </a:solidFill>
                <a:latin typeface="Figtree"/>
              </a:rPr>
              <a:t>List price: $22,500/yr  |  You save: $3,000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24612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62846"/>
                </a:solidFill>
                <a:latin typeface="Figtree"/>
              </a:rPr>
              <a:t>Included Add-Ons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584448"/>
            <a:ext cx="1828800" cy="45720"/>
          </a:xfrm>
          <a:prstGeom prst="rect">
            <a:avLst/>
          </a:prstGeom>
          <a:solidFill>
            <a:srgbClr val="FF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794760"/>
            <a:ext cx="5029200" cy="43891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794760"/>
            <a:ext cx="45720" cy="438912"/>
          </a:xfrm>
          <a:prstGeom prst="rect">
            <a:avLst/>
          </a:prstGeom>
          <a:solidFill>
            <a:srgbClr val="27D3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3867912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62846"/>
                </a:solidFill>
                <a:latin typeface="Figtree"/>
              </a:rPr>
              <a:t>CRM Integration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3867912"/>
            <a:ext cx="1280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492C"/>
                </a:solidFill>
                <a:latin typeface="Figtree"/>
              </a:rPr>
              <a:t>$3,000/yr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297680"/>
            <a:ext cx="50292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297680"/>
            <a:ext cx="45720" cy="438912"/>
          </a:xfrm>
          <a:prstGeom prst="rect">
            <a:avLst/>
          </a:prstGeom>
          <a:solidFill>
            <a:srgbClr val="27D3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" y="4370832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62846"/>
                </a:solidFill>
                <a:latin typeface="Figtree"/>
              </a:rPr>
              <a:t>Slack Alerts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4370832"/>
            <a:ext cx="1280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492C"/>
                </a:solidFill>
                <a:latin typeface="Figtree"/>
              </a:rPr>
              <a:t>$1,500/yr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1508760"/>
            <a:ext cx="5349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62846"/>
                </a:solidFill>
                <a:latin typeface="Figtree"/>
              </a:rPr>
              <a:t>Why This Matters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847088"/>
            <a:ext cx="1828800" cy="45720"/>
          </a:xfrm>
          <a:prstGeom prst="rect">
            <a:avLst/>
          </a:prstGeom>
          <a:solidFill>
            <a:srgbClr val="FF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2103120"/>
            <a:ext cx="5349240" cy="8686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2103120"/>
            <a:ext cx="54864" cy="868680"/>
          </a:xfrm>
          <a:prstGeom prst="rect">
            <a:avLst/>
          </a:prstGeom>
          <a:solidFill>
            <a:srgbClr val="FF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194560"/>
            <a:ext cx="4983479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62846"/>
                </a:solidFill>
                <a:latin typeface="Figtree"/>
              </a:rPr>
              <a:t>Buyer Intent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87168"/>
            <a:ext cx="4983479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D6480"/>
                </a:solidFill>
                <a:latin typeface="Figtree"/>
              </a:rPr>
              <a:t>Know who is in-market for your category before they contact you.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3154679"/>
            <a:ext cx="5349240" cy="8686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3154679"/>
            <a:ext cx="54864" cy="868680"/>
          </a:xfrm>
          <a:prstGeom prst="rect">
            <a:avLst/>
          </a:prstGeom>
          <a:solidFill>
            <a:srgbClr val="007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3246120"/>
            <a:ext cx="4983479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62846"/>
                </a:solidFill>
                <a:latin typeface="Figtree"/>
              </a:rPr>
              <a:t>Competitive Intelligence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538727"/>
            <a:ext cx="4983479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D6480"/>
                </a:solidFill>
                <a:latin typeface="Figtree"/>
              </a:rPr>
              <a:t>Real-time visibility into how buyers compare you to competitors.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4206240"/>
            <a:ext cx="5349240" cy="8686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4206240"/>
            <a:ext cx="54864" cy="868680"/>
          </a:xfrm>
          <a:prstGeom prst="rect">
            <a:avLst/>
          </a:prstGeom>
          <a:solidFill>
            <a:srgbClr val="27D3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4297679"/>
            <a:ext cx="4983479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62846"/>
                </a:solidFill>
                <a:latin typeface="Figtree"/>
              </a:rPr>
              <a:t>Verified Reviews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590288"/>
            <a:ext cx="4983479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D6480"/>
                </a:solidFill>
                <a:latin typeface="Figtree"/>
              </a:rPr>
              <a:t>2.6M+ authentic peer reviews that drive purchase decisions.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5257800"/>
            <a:ext cx="5349240" cy="8686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17920" y="5257800"/>
            <a:ext cx="54864" cy="868680"/>
          </a:xfrm>
          <a:prstGeom prst="rect">
            <a:avLst/>
          </a:prstGeom>
          <a:solidFill>
            <a:srgbClr val="574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5349240"/>
            <a:ext cx="4983479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62846"/>
                </a:solidFill>
                <a:latin typeface="Figtree"/>
              </a:rPr>
              <a:t>Market Presence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5641848"/>
            <a:ext cx="4983479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D6480"/>
                </a:solidFill>
                <a:latin typeface="Figtree"/>
              </a:rPr>
              <a:t>Improve your G2 Grid rank and visibility for target buyers.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6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6519672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Figtree"/>
              </a:rPr>
              <a:t>g2.com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519672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D9DEE6"/>
                </a:solidFill>
                <a:latin typeface="Figtree"/>
              </a:rPr>
              <a:t>Confidential  |  3</a:t>
            </a:r>
          </a:p>
        </p:txBody>
      </p:sp>
      <p:pic>
        <p:nvPicPr>
          <p:cNvPr id="45" name="Picture 44" descr="G2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6510528"/>
            <a:ext cx="256032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6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143000"/>
          </a:xfrm>
          <a:prstGeom prst="rect">
            <a:avLst/>
          </a:prstGeom>
          <a:solidFill>
            <a:srgbClr val="FF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2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56032"/>
            <a:ext cx="50292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37160"/>
            <a:ext cx="7315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Figtree"/>
              </a:rPr>
              <a:t>Market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8368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9DEE6"/>
                </a:solidFill>
                <a:latin typeface="Figtree"/>
              </a:rPr>
              <a:t>Enterprise Package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FF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08760"/>
            <a:ext cx="5029200" cy="14630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508760"/>
            <a:ext cx="5029200" cy="45720"/>
          </a:xfrm>
          <a:prstGeom prst="rect">
            <a:avLst/>
          </a:prstGeom>
          <a:solidFill>
            <a:srgbClr val="FF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916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D6480"/>
                </a:solidFill>
                <a:latin typeface="Figtree"/>
              </a:rPr>
              <a:t>ANNUAL CONTRACT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011680"/>
            <a:ext cx="3657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492C"/>
                </a:solidFill>
                <a:latin typeface="Figtree"/>
              </a:rPr>
              <a:t>$36,000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508760"/>
            <a:ext cx="5349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62846"/>
                </a:solidFill>
                <a:latin typeface="Figtree"/>
              </a:rPr>
              <a:t>Why This Matters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847088"/>
            <a:ext cx="1828800" cy="45720"/>
          </a:xfrm>
          <a:prstGeom prst="rect">
            <a:avLst/>
          </a:prstGeom>
          <a:solidFill>
            <a:srgbClr val="FF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103120"/>
            <a:ext cx="5349240" cy="8686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103120"/>
            <a:ext cx="54864" cy="868680"/>
          </a:xfrm>
          <a:prstGeom prst="rect">
            <a:avLst/>
          </a:prstGeom>
          <a:solidFill>
            <a:srgbClr val="FF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194560"/>
            <a:ext cx="4983479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62846"/>
                </a:solidFill>
                <a:latin typeface="Figtree"/>
              </a:rPr>
              <a:t>Buyer Intent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487168"/>
            <a:ext cx="4983479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D6480"/>
                </a:solidFill>
                <a:latin typeface="Figtree"/>
              </a:rPr>
              <a:t>Know who is in-market for your category before they contact you.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154679"/>
            <a:ext cx="5349240" cy="8686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154679"/>
            <a:ext cx="54864" cy="868680"/>
          </a:xfrm>
          <a:prstGeom prst="rect">
            <a:avLst/>
          </a:prstGeom>
          <a:solidFill>
            <a:srgbClr val="007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246120"/>
            <a:ext cx="4983479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62846"/>
                </a:solidFill>
                <a:latin typeface="Figtree"/>
              </a:rPr>
              <a:t>Competitive Intelligence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538727"/>
            <a:ext cx="4983479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D6480"/>
                </a:solidFill>
                <a:latin typeface="Figtree"/>
              </a:rPr>
              <a:t>Real-time visibility into how buyers compare you to competitors.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4206240"/>
            <a:ext cx="5349240" cy="8686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4206240"/>
            <a:ext cx="54864" cy="868680"/>
          </a:xfrm>
          <a:prstGeom prst="rect">
            <a:avLst/>
          </a:prstGeom>
          <a:solidFill>
            <a:srgbClr val="27D3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297679"/>
            <a:ext cx="4983479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62846"/>
                </a:solidFill>
                <a:latin typeface="Figtree"/>
              </a:rPr>
              <a:t>Verified Reviews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590288"/>
            <a:ext cx="4983479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D6480"/>
                </a:solidFill>
                <a:latin typeface="Figtree"/>
              </a:rPr>
              <a:t>2.6M+ authentic peer reviews that drive purchase decisions.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5257800"/>
            <a:ext cx="5349240" cy="8686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5257800"/>
            <a:ext cx="54864" cy="868680"/>
          </a:xfrm>
          <a:prstGeom prst="rect">
            <a:avLst/>
          </a:prstGeom>
          <a:solidFill>
            <a:srgbClr val="574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5349240"/>
            <a:ext cx="4983479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62846"/>
                </a:solidFill>
                <a:latin typeface="Figtree"/>
              </a:rPr>
              <a:t>Market Presence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641848"/>
            <a:ext cx="4983479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D6480"/>
                </a:solidFill>
                <a:latin typeface="Figtree"/>
              </a:rPr>
              <a:t>Improve your G2 Grid rank and visibility for target buyers.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6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6519672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Figtree"/>
              </a:rPr>
              <a:t>g2.com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6519672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D9DEE6"/>
                </a:solidFill>
                <a:latin typeface="Figtree"/>
              </a:rPr>
              <a:t>Confidential  |  4</a:t>
            </a:r>
          </a:p>
        </p:txBody>
      </p:sp>
      <p:pic>
        <p:nvPicPr>
          <p:cNvPr id="34" name="Picture 33" descr="G2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6510528"/>
            <a:ext cx="256032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6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143000"/>
          </a:xfrm>
          <a:prstGeom prst="rect">
            <a:avLst/>
          </a:prstGeom>
          <a:solidFill>
            <a:srgbClr val="FF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2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56032"/>
            <a:ext cx="50292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37160"/>
            <a:ext cx="7315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Figtree"/>
              </a:rPr>
              <a:t>Pricing Details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8368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9DEE6"/>
                </a:solidFill>
                <a:latin typeface="Figtree"/>
              </a:rPr>
              <a:t>Acme Corp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FF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63040"/>
            <a:ext cx="10881360" cy="438912"/>
          </a:xfrm>
          <a:prstGeom prst="rect">
            <a:avLst/>
          </a:prstGeom>
          <a:solidFill>
            <a:srgbClr val="06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536192"/>
            <a:ext cx="6492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Figtree"/>
              </a:rPr>
              <a:t>Item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1536192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Figtree"/>
              </a:rPr>
              <a:t>List Price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59" y="1536192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Figtree"/>
              </a:rPr>
              <a:t>Your Price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1901952"/>
            <a:ext cx="1088136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1956816"/>
            <a:ext cx="6217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62846"/>
                </a:solidFill>
                <a:latin typeface="Figtree"/>
              </a:rPr>
              <a:t>Buyer Intent (Professional pkg)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1956816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D6480"/>
                </a:solidFill>
                <a:latin typeface="Figtree"/>
              </a:rPr>
              <a:t>$18,000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59" y="1956816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62846"/>
                </a:solidFill>
                <a:latin typeface="Figtree"/>
              </a:rPr>
              <a:t>$15,000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286000"/>
            <a:ext cx="108813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2340864"/>
            <a:ext cx="6217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D6480"/>
                </a:solidFill>
                <a:latin typeface="Figtree"/>
              </a:rPr>
              <a:t>  + CRM Integration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2340864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D6480"/>
                </a:solidFill>
                <a:latin typeface="Figtree"/>
              </a:rPr>
              <a:t>$3,000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59" y="2340864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62846"/>
                </a:solidFill>
                <a:latin typeface="Figtree"/>
              </a:rPr>
              <a:t>$3,000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2670048"/>
            <a:ext cx="1088136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2724912"/>
            <a:ext cx="6217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D6480"/>
                </a:solidFill>
                <a:latin typeface="Figtree"/>
              </a:rPr>
              <a:t>  + Slack Alerts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2724912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D6480"/>
                </a:solidFill>
                <a:latin typeface="Figtree"/>
              </a:rPr>
              <a:t>$1,500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59" y="2724912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62846"/>
                </a:solidFill>
                <a:latin typeface="Figtree"/>
              </a:rPr>
              <a:t>$1,500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054096"/>
            <a:ext cx="108813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" y="3108960"/>
            <a:ext cx="6217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62846"/>
                </a:solidFill>
                <a:latin typeface="Figtree"/>
              </a:rPr>
              <a:t>Market Intelligence (Enterprise pkg)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108960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D6480"/>
                </a:solidFill>
                <a:latin typeface="Figtree"/>
              </a:rPr>
              <a:t>$36,000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59" y="3108960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62846"/>
                </a:solidFill>
                <a:latin typeface="Figtree"/>
              </a:rPr>
              <a:t>$36,000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438144"/>
            <a:ext cx="1088136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59" y="3493008"/>
            <a:ext cx="6217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62846"/>
                </a:solidFill>
                <a:latin typeface="Figtree"/>
              </a:rPr>
              <a:t>Review Booster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3493008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D6480"/>
                </a:solidFill>
                <a:latin typeface="Figtree"/>
              </a:rPr>
              <a:t>$5,000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59" y="3493008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62846"/>
                </a:solidFill>
                <a:latin typeface="Figtree"/>
              </a:rPr>
              <a:t>$5,000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3822191"/>
            <a:ext cx="108813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" y="3822191"/>
            <a:ext cx="45720" cy="384048"/>
          </a:xfrm>
          <a:prstGeom prst="rect">
            <a:avLst/>
          </a:prstGeom>
          <a:solidFill>
            <a:srgbClr val="FF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59" y="3877055"/>
            <a:ext cx="6217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492C"/>
                </a:solidFill>
                <a:latin typeface="Figtree"/>
              </a:rPr>
              <a:t>Proposal Discount (10.0%)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9759" y="3877055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492C"/>
                </a:solidFill>
                <a:latin typeface="Figtree"/>
              </a:rPr>
              <a:t>-$6,050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4937760"/>
            <a:ext cx="10881360" cy="27432"/>
          </a:xfrm>
          <a:prstGeom prst="rect">
            <a:avLst/>
          </a:prstGeom>
          <a:solidFill>
            <a:srgbClr val="06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080" y="5029200"/>
            <a:ext cx="10881360" cy="502920"/>
          </a:xfrm>
          <a:prstGeom prst="rect">
            <a:avLst/>
          </a:prstGeom>
          <a:solidFill>
            <a:srgbClr val="06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59" y="5102352"/>
            <a:ext cx="6492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Figtree"/>
              </a:rPr>
              <a:t>Total Annual Contract Value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09759" y="5102352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492C"/>
                </a:solidFill>
                <a:latin typeface="Figtree"/>
              </a:rPr>
              <a:t>$54,450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5623560"/>
            <a:ext cx="10881360" cy="365760"/>
          </a:xfrm>
          <a:prstGeom prst="rect">
            <a:avLst/>
          </a:prstGeom>
          <a:solidFill>
            <a:srgbClr val="E0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0080" y="5623560"/>
            <a:ext cx="45720" cy="365760"/>
          </a:xfrm>
          <a:prstGeom prst="rect">
            <a:avLst/>
          </a:prstGeom>
          <a:solidFill>
            <a:srgbClr val="27D3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678424"/>
            <a:ext cx="7315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62846"/>
                </a:solidFill>
                <a:latin typeface="Figtree"/>
              </a:rPr>
              <a:t>Total savings: $9,050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79" y="5678424"/>
            <a:ext cx="40233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D6480"/>
                </a:solidFill>
                <a:latin typeface="Figtree"/>
              </a:rPr>
              <a:t>10.0% proposal discount applied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6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6519672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Figtree"/>
              </a:rPr>
              <a:t>g2.com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6519672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D9DEE6"/>
                </a:solidFill>
                <a:latin typeface="Figtree"/>
              </a:rPr>
              <a:t>Confidential  |  5</a:t>
            </a:r>
          </a:p>
        </p:txBody>
      </p:sp>
      <p:pic>
        <p:nvPicPr>
          <p:cNvPr id="48" name="Picture 47" descr="G2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6510528"/>
            <a:ext cx="256032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2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365760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492C"/>
                </a:solidFill>
                <a:latin typeface="Figtree"/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6858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Figtree"/>
              </a:rPr>
              <a:t>Let's Move Forward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3200400" cy="45720"/>
          </a:xfrm>
          <a:prstGeom prst="rect">
            <a:avLst/>
          </a:prstGeom>
          <a:solidFill>
            <a:srgbClr val="FF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594360" cy="502920"/>
          </a:xfrm>
          <a:prstGeom prst="rect">
            <a:avLst/>
          </a:prstGeom>
          <a:solidFill>
            <a:srgbClr val="FF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30552"/>
            <a:ext cx="594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Figtree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075688"/>
            <a:ext cx="5943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Figtree"/>
              </a:rPr>
              <a:t>Review This Proposal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377440"/>
            <a:ext cx="5943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9DEE6"/>
                </a:solidFill>
                <a:latin typeface="Figtree"/>
              </a:rPr>
              <a:t>Share with your stakeholders and confirm the products and pricing align with your goals.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063240"/>
            <a:ext cx="594360" cy="502920"/>
          </a:xfrm>
          <a:prstGeom prst="rect">
            <a:avLst/>
          </a:prstGeom>
          <a:solidFill>
            <a:srgbClr val="27D3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36392"/>
            <a:ext cx="594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Figtree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081528"/>
            <a:ext cx="5943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Figtree"/>
              </a:rPr>
              <a:t>Sign the Agreement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383280"/>
            <a:ext cx="5943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9DEE6"/>
                </a:solidFill>
                <a:latin typeface="Figtree"/>
              </a:rPr>
              <a:t>We'll send over the MSA and Order Form for e-signature via DocuSign.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069080"/>
            <a:ext cx="594360" cy="502920"/>
          </a:xfrm>
          <a:prstGeom prst="rect">
            <a:avLst/>
          </a:prstGeom>
          <a:solidFill>
            <a:srgbClr val="007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142232"/>
            <a:ext cx="594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Figtree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087368"/>
            <a:ext cx="5943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Figtree"/>
              </a:rPr>
              <a:t>Onboarding Kickoff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389120"/>
            <a:ext cx="5943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9DEE6"/>
                </a:solidFill>
                <a:latin typeface="Figtree"/>
              </a:rPr>
              <a:t>Your dedicated Customer Success Manager will schedule onboarding within 5 business days.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074920"/>
            <a:ext cx="594360" cy="502920"/>
          </a:xfrm>
          <a:prstGeom prst="rect">
            <a:avLst/>
          </a:prstGeom>
          <a:solidFill>
            <a:srgbClr val="574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148072"/>
            <a:ext cx="594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Figtree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5093208"/>
            <a:ext cx="5943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Figtree"/>
              </a:rPr>
              <a:t>Go Live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5394960"/>
            <a:ext cx="5943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9DEE6"/>
                </a:solidFill>
                <a:latin typeface="Figtree"/>
              </a:rPr>
              <a:t>Access your G2 dashboard, integrate your CRM, and start capturing buyer intent signals.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0" y="914400"/>
            <a:ext cx="3657600" cy="5029200"/>
          </a:xfrm>
          <a:prstGeom prst="rect">
            <a:avLst/>
          </a:prstGeom>
          <a:solidFill>
            <a:srgbClr val="04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20" y="914400"/>
            <a:ext cx="3657600" cy="54864"/>
          </a:xfrm>
          <a:prstGeom prst="rect">
            <a:avLst/>
          </a:prstGeom>
          <a:solidFill>
            <a:srgbClr val="FF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1234440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492C"/>
                </a:solidFill>
                <a:latin typeface="Figtree"/>
              </a:rPr>
              <a:t>YOUR G2 CONTACT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1645920"/>
            <a:ext cx="3017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Figtree"/>
              </a:rPr>
              <a:t>Jane Smith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2331720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9DEE6"/>
                </a:solidFill>
                <a:latin typeface="Figtree"/>
              </a:rPr>
              <a:t>Senior Account Executive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66760" y="2743200"/>
            <a:ext cx="3017520" cy="27432"/>
          </a:xfrm>
          <a:prstGeom prst="rect">
            <a:avLst/>
          </a:prstGeom>
          <a:solidFill>
            <a:srgbClr val="FF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60" y="2971800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Figtree"/>
              </a:rPr>
              <a:t>jane.smith@g2.com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3319272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Figtree"/>
              </a:rPr>
              <a:t>(312) 555-0100</a:t>
            </a:r>
          </a:p>
        </p:txBody>
      </p:sp>
      <p:pic>
        <p:nvPicPr>
          <p:cNvPr id="32" name="Picture 31" descr="G2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4206240"/>
            <a:ext cx="457200" cy="4572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961120" y="425196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9DEE6"/>
                </a:solidFill>
                <a:latin typeface="Figtree"/>
              </a:rPr>
              <a:t>The World's Largest
Software Marketplace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4937760"/>
            <a:ext cx="30175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D6480"/>
                </a:solidFill>
                <a:latin typeface="Figtree"/>
              </a:rPr>
              <a:t>Questions? Reach out anytime.
We're committed to your success with G2.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F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640080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Figtree"/>
              </a:rPr>
              <a:t>Prepared for Acme Corp  |  Confidential</a:t>
            </a:r>
          </a:p>
        </p:txBody>
      </p:sp>
      <p:pic>
        <p:nvPicPr>
          <p:cNvPr id="37" name="Picture 36" descr="G2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6400800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